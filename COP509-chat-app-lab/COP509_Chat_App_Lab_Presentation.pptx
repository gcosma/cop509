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029200" cy="5029200"/>
          </a:xfrm>
          <a:prstGeom prst="ellipse">
            <a:avLst/>
          </a:prstGeom>
          <a:solidFill>
            <a:srgbClr val="CC006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COP509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App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access for chat and benchmarking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22860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Mikel Williams-Lekuona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Loughborough University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356616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600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0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Session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754880" cy="100584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34440"/>
            <a:ext cx="64008" cy="1005840"/>
          </a:xfrm>
          <a:prstGeom prst="rect">
            <a:avLst/>
          </a:prstGeom>
          <a:solidFill>
            <a:srgbClr val="CC006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716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chatbot + LLM benchmark tool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16642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OpenRouter: one API, many models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468880"/>
            <a:ext cx="4754880" cy="100584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468880"/>
            <a:ext cx="64008" cy="1005840"/>
          </a:xfrm>
          <a:prstGeom prst="rect">
            <a:avLst/>
          </a:prstGeom>
          <a:solidFill>
            <a:srgbClr val="66006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6060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514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Python file  ·  ~100 → ~160 lines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554480" y="28986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provided as copy-paste snippets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3703320"/>
            <a:ext cx="4754880" cy="82296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703320"/>
            <a:ext cx="64008" cy="822960"/>
          </a:xfrm>
          <a:prstGeom prst="rect">
            <a:avLst/>
          </a:prstGeom>
          <a:solidFill>
            <a:srgbClr val="D4770B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374904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400" dirty="0">
                <a:solidFill>
                  <a:srgbClr val="3C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the pieces fit together — API, streaming, server, persistence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943600" y="1234440"/>
            <a:ext cx="2560320" cy="329184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94360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660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263640" y="1874520"/>
            <a:ext cx="274320" cy="274320"/>
          </a:xfrm>
          <a:prstGeom prst="ellipse">
            <a:avLst/>
          </a:prstGeom>
          <a:solidFill>
            <a:srgbClr val="660066"/>
          </a:solidFill>
          <a:ln/>
        </p:spPr>
      </p:sp>
      <p:sp>
        <p:nvSpPr>
          <p:cNvPr id="20" name="Text 16"/>
          <p:cNvSpPr/>
          <p:nvPr/>
        </p:nvSpPr>
        <p:spPr>
          <a:xfrm>
            <a:off x="62636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720840" y="1874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263640" y="2377440"/>
            <a:ext cx="274320" cy="274320"/>
          </a:xfrm>
          <a:prstGeom prst="ellipse">
            <a:avLst/>
          </a:prstGeom>
          <a:solidFill>
            <a:srgbClr val="660066"/>
          </a:solidFill>
          <a:ln/>
        </p:spPr>
      </p:sp>
      <p:sp>
        <p:nvSpPr>
          <p:cNvPr id="23" name="Text 19"/>
          <p:cNvSpPr/>
          <p:nvPr/>
        </p:nvSpPr>
        <p:spPr>
          <a:xfrm>
            <a:off x="626364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720840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263640" y="2880360"/>
            <a:ext cx="274320" cy="274320"/>
          </a:xfrm>
          <a:prstGeom prst="ellipse">
            <a:avLst/>
          </a:prstGeom>
          <a:solidFill>
            <a:srgbClr val="660066"/>
          </a:solidFill>
          <a:ln/>
        </p:spPr>
      </p:sp>
      <p:sp>
        <p:nvSpPr>
          <p:cNvPr id="26" name="Text 22"/>
          <p:cNvSpPr/>
          <p:nvPr/>
        </p:nvSpPr>
        <p:spPr>
          <a:xfrm>
            <a:off x="626364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720840" y="2880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263640" y="3383280"/>
            <a:ext cx="274320" cy="274320"/>
          </a:xfrm>
          <a:prstGeom prst="ellipse">
            <a:avLst/>
          </a:prstGeom>
          <a:solidFill>
            <a:srgbClr val="660066"/>
          </a:solidFill>
          <a:ln/>
        </p:spPr>
      </p:sp>
      <p:sp>
        <p:nvSpPr>
          <p:cNvPr id="29" name="Text 25"/>
          <p:cNvSpPr/>
          <p:nvPr/>
        </p:nvSpPr>
        <p:spPr>
          <a:xfrm>
            <a:off x="626364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72084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263640" y="3886200"/>
            <a:ext cx="274320" cy="274320"/>
          </a:xfrm>
          <a:prstGeom prst="ellipse">
            <a:avLst/>
          </a:prstGeom>
          <a:solidFill>
            <a:srgbClr val="660066"/>
          </a:solidFill>
          <a:ln/>
        </p:spPr>
      </p:sp>
      <p:sp>
        <p:nvSpPr>
          <p:cNvPr id="32" name="Text 28"/>
          <p:cNvSpPr/>
          <p:nvPr/>
        </p:nvSpPr>
        <p:spPr>
          <a:xfrm>
            <a:off x="626364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720840" y="3886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inspect_ai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600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274320"/>
            <a:ext cx="4572000" cy="4572000"/>
          </a:xfrm>
          <a:prstGeom prst="ellipse">
            <a:avLst/>
          </a:prstGeom>
          <a:solidFill>
            <a:srgbClr val="CC0066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731520"/>
            <a:ext cx="3657600" cy="36576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18872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7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32918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600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0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371600" cy="82296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1371600" cy="36576"/>
          </a:xfrm>
          <a:prstGeom prst="rect">
            <a:avLst/>
          </a:prstGeom>
          <a:solidFill>
            <a:srgbClr val="66006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3258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26187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1463040"/>
            <a:ext cx="274320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103120" y="1188720"/>
            <a:ext cx="1371600" cy="82296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103120" y="1188720"/>
            <a:ext cx="1371600" cy="36576"/>
          </a:xfrm>
          <a:prstGeom prst="rect">
            <a:avLst/>
          </a:prstGeom>
          <a:solidFill>
            <a:srgbClr val="66006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" y="132588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560320" y="126187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463040"/>
            <a:ext cx="274320" cy="2743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931920" y="1188720"/>
            <a:ext cx="1371600" cy="82296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3931920" y="1188720"/>
            <a:ext cx="1371600" cy="36576"/>
          </a:xfrm>
          <a:prstGeom prst="rect">
            <a:avLst/>
          </a:prstGeom>
          <a:solidFill>
            <a:srgbClr val="660066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1648" y="1325880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89120" y="126187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SDK</a:t>
            </a:r>
            <a:endParaRPr lang="en-US" sz="9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1463040"/>
            <a:ext cx="274320" cy="27432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760720" y="1188720"/>
            <a:ext cx="1371600" cy="82296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5760720" y="1188720"/>
            <a:ext cx="1371600" cy="36576"/>
          </a:xfrm>
          <a:prstGeom prst="rect">
            <a:avLst/>
          </a:prstGeom>
          <a:solidFill>
            <a:srgbClr val="660066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0448" y="1325880"/>
            <a:ext cx="292608" cy="29260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217920" y="126187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9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9480" y="1463040"/>
            <a:ext cx="274320" cy="27432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7589520" y="1188720"/>
            <a:ext cx="1371600" cy="82296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15"/>
          <p:cNvSpPr/>
          <p:nvPr/>
        </p:nvSpPr>
        <p:spPr>
          <a:xfrm>
            <a:off x="7589520" y="1188720"/>
            <a:ext cx="1371600" cy="36576"/>
          </a:xfrm>
          <a:prstGeom prst="rect">
            <a:avLst/>
          </a:prstGeom>
          <a:solidFill>
            <a:srgbClr val="660066"/>
          </a:solidFill>
          <a:ln/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9248" y="1325880"/>
            <a:ext cx="292608" cy="29260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8046720" y="126187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900" dirty="0"/>
          </a:p>
        </p:txBody>
      </p:sp>
      <p:sp>
        <p:nvSpPr>
          <p:cNvPr id="28" name="Shape 17"/>
          <p:cNvSpPr/>
          <p:nvPr/>
        </p:nvSpPr>
        <p:spPr>
          <a:xfrm>
            <a:off x="731520" y="2377440"/>
            <a:ext cx="320040" cy="320040"/>
          </a:xfrm>
          <a:prstGeom prst="ellipse">
            <a:avLst/>
          </a:prstGeom>
          <a:solidFill>
            <a:srgbClr val="CC0066"/>
          </a:solidFill>
          <a:ln/>
        </p:spPr>
      </p:sp>
      <p:sp>
        <p:nvSpPr>
          <p:cNvPr id="29" name="Text 18"/>
          <p:cNvSpPr/>
          <p:nvPr/>
        </p:nvSpPr>
        <p:spPr>
          <a:xfrm>
            <a:off x="73152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19"/>
          <p:cNvSpPr/>
          <p:nvPr/>
        </p:nvSpPr>
        <p:spPr>
          <a:xfrm>
            <a:off x="1234440" y="2377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POSTs to /chat/stream (message, history, model)</a:t>
            </a:r>
            <a:endParaRPr lang="en-US" sz="1300" dirty="0"/>
          </a:p>
        </p:txBody>
      </p:sp>
      <p:sp>
        <p:nvSpPr>
          <p:cNvPr id="31" name="Shape 20"/>
          <p:cNvSpPr/>
          <p:nvPr/>
        </p:nvSpPr>
        <p:spPr>
          <a:xfrm>
            <a:off x="731520" y="2880360"/>
            <a:ext cx="320040" cy="320040"/>
          </a:xfrm>
          <a:prstGeom prst="ellipse">
            <a:avLst/>
          </a:prstGeom>
          <a:solidFill>
            <a:srgbClr val="CC0066"/>
          </a:solidFill>
          <a:ln/>
        </p:spPr>
      </p:sp>
      <p:sp>
        <p:nvSpPr>
          <p:cNvPr id="32" name="Text 21"/>
          <p:cNvSpPr/>
          <p:nvPr/>
        </p:nvSpPr>
        <p:spPr>
          <a:xfrm>
            <a:off x="73152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22"/>
          <p:cNvSpPr/>
          <p:nvPr/>
        </p:nvSpPr>
        <p:spPr>
          <a:xfrm>
            <a:off x="123444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builds a messages list (system + history + user)</a:t>
            </a:r>
            <a:endParaRPr lang="en-US" sz="1300" dirty="0"/>
          </a:p>
        </p:txBody>
      </p:sp>
      <p:sp>
        <p:nvSpPr>
          <p:cNvPr id="34" name="Shape 23"/>
          <p:cNvSpPr/>
          <p:nvPr/>
        </p:nvSpPr>
        <p:spPr>
          <a:xfrm>
            <a:off x="731520" y="3383280"/>
            <a:ext cx="320040" cy="320040"/>
          </a:xfrm>
          <a:prstGeom prst="ellipse">
            <a:avLst/>
          </a:prstGeom>
          <a:solidFill>
            <a:srgbClr val="CC0066"/>
          </a:solidFill>
          <a:ln/>
        </p:spPr>
      </p:sp>
      <p:sp>
        <p:nvSpPr>
          <p:cNvPr id="35" name="Text 24"/>
          <p:cNvSpPr/>
          <p:nvPr/>
        </p:nvSpPr>
        <p:spPr>
          <a:xfrm>
            <a:off x="73152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25"/>
          <p:cNvSpPr/>
          <p:nvPr/>
        </p:nvSpPr>
        <p:spPr>
          <a:xfrm>
            <a:off x="123444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client.chat.completions.create(stream=True)</a:t>
            </a:r>
            <a:endParaRPr lang="en-US" sz="1300" dirty="0"/>
          </a:p>
        </p:txBody>
      </p:sp>
      <p:sp>
        <p:nvSpPr>
          <p:cNvPr id="37" name="Shape 26"/>
          <p:cNvSpPr/>
          <p:nvPr/>
        </p:nvSpPr>
        <p:spPr>
          <a:xfrm>
            <a:off x="731520" y="3886200"/>
            <a:ext cx="320040" cy="320040"/>
          </a:xfrm>
          <a:prstGeom prst="ellipse">
            <a:avLst/>
          </a:prstGeom>
          <a:solidFill>
            <a:srgbClr val="CC0066"/>
          </a:solidFill>
          <a:ln/>
        </p:spPr>
      </p:sp>
      <p:sp>
        <p:nvSpPr>
          <p:cNvPr id="38" name="Text 27"/>
          <p:cNvSpPr/>
          <p:nvPr/>
        </p:nvSpPr>
        <p:spPr>
          <a:xfrm>
            <a:off x="73152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123444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yields SSE events:  data: {"content": "..."}</a:t>
            </a:r>
            <a:endParaRPr lang="en-US" sz="1300" dirty="0"/>
          </a:p>
        </p:txBody>
      </p:sp>
      <p:sp>
        <p:nvSpPr>
          <p:cNvPr id="40" name="Shape 29"/>
          <p:cNvSpPr/>
          <p:nvPr/>
        </p:nvSpPr>
        <p:spPr>
          <a:xfrm>
            <a:off x="731520" y="4389120"/>
            <a:ext cx="320040" cy="320040"/>
          </a:xfrm>
          <a:prstGeom prst="ellipse">
            <a:avLst/>
          </a:prstGeom>
          <a:solidFill>
            <a:srgbClr val="CC0066"/>
          </a:solidFill>
          <a:ln/>
        </p:spPr>
      </p:sp>
      <p:sp>
        <p:nvSpPr>
          <p:cNvPr id="41" name="Text 30"/>
          <p:cNvSpPr/>
          <p:nvPr/>
        </p:nvSpPr>
        <p:spPr>
          <a:xfrm>
            <a:off x="731520" y="4389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31"/>
          <p:cNvSpPr/>
          <p:nvPr/>
        </p:nvSpPr>
        <p:spPr>
          <a:xfrm>
            <a:off x="123444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StreamingResponse sends each event to the browser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600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0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OpenRouter + OpenAI SDK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uses the same protocol as OpenAI's API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4754880" cy="164592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554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F7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OpenAI(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base_url=</a:t>
            </a:r>
            <a:pPr indent="0" marL="0">
              <a:buNone/>
            </a:pPr>
            <a:r>
              <a:rPr lang="en-US" sz="1200" dirty="0">
                <a:solidFill>
                  <a:srgbClr val="6EC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"https://openrouter.ai/api/v1"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api_key=</a:t>
            </a:r>
            <a:pPr indent="0" marL="0">
              <a:buNone/>
            </a:pPr>
            <a:r>
              <a:rPr lang="en-US" sz="12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os.getenv("OPENROUTER_API_KEY")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1508760"/>
            <a:ext cx="2834640" cy="68580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52160" y="1508760"/>
            <a:ext cx="54864" cy="685800"/>
          </a:xfrm>
          <a:prstGeom prst="rect">
            <a:avLst/>
          </a:prstGeom>
          <a:solidFill>
            <a:srgbClr val="66006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45920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10528" y="15361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SDK, same message format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2331720"/>
            <a:ext cx="2834640" cy="68580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52160" y="2331720"/>
            <a:ext cx="54864" cy="685800"/>
          </a:xfrm>
          <a:prstGeom prst="rect">
            <a:avLst/>
          </a:prstGeom>
          <a:solidFill>
            <a:srgbClr val="66006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46888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10528" y="235915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provider by changing one URL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852160" y="3154680"/>
            <a:ext cx="2834640" cy="68580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852160" y="3154680"/>
            <a:ext cx="54864" cy="685800"/>
          </a:xfrm>
          <a:prstGeom prst="rect">
            <a:avLst/>
          </a:prstGeom>
          <a:solidFill>
            <a:srgbClr val="66006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29184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10528" y="318211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many models: Gemini, Llama, GPT, Claude…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600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0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 (SSE)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3657600" cy="91440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43000"/>
            <a:ext cx="54864" cy="914400"/>
          </a:xfrm>
          <a:prstGeom prst="rect">
            <a:avLst/>
          </a:prstGeom>
          <a:solidFill>
            <a:srgbClr val="EAEAE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streaming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full response, display all at once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3657600" cy="91440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54864" cy="9144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streaming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sent as it is generated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331720"/>
            <a:ext cx="7680960" cy="214884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377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F7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68680" y="2651760"/>
            <a:ext cx="7406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generate():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chunk in stream: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 = chunk.choices[0].delta.content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content: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yield </a:t>
            </a:r>
            <a:pPr indent="0" marL="0">
              <a:buNone/>
            </a:pPr>
            <a:r>
              <a:rPr lang="en-US" sz="1200" dirty="0">
                <a:solidFill>
                  <a:srgbClr val="6EC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f"data: {json.dumps(...)}\n\n"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</a:t>
            </a:r>
            <a:pPr indent="0" marL="0">
              <a:buNone/>
            </a:pPr>
            <a:r>
              <a:rPr lang="en-US" sz="12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"data: [DONE]\n\n"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(SSE): </a:t>
            </a:r>
            <a:pPr indent="0" marL="0">
              <a:buNone/>
            </a:pPr>
            <a:r>
              <a:rPr lang="en-US" sz="1300" dirty="0">
                <a:solidFill>
                  <a:srgbClr val="3C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web protocol for server → browser streaming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600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0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 Memory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4864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1556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051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stateless — each API call is independent. Every request sends the full conversation history.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1874520"/>
            <a:ext cx="7680960" cy="1920240"/>
          </a:xfrm>
          <a:prstGeom prst="rect">
            <a:avLst/>
          </a:prstGeom>
          <a:solidFill>
            <a:srgbClr val="1E1E2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1920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F7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68680" y="2194560"/>
            <a:ext cx="7406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=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[{</a:t>
            </a:r>
            <a:pPr indent="0" marL="0">
              <a:buNone/>
            </a:pPr>
            <a:r>
              <a:rPr lang="en-US" sz="12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"role": "system", "content": SYSTEM_PROMPT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</a:t>
            </a:r>
            <a:pPr indent="0" marL="0">
              <a:buNone/>
            </a:pPr>
            <a:r>
              <a:rPr lang="en-US" sz="1200" b="1" dirty="0">
                <a:solidFill>
                  <a:srgbClr val="56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pPr indent="0" marL="0">
              <a:buNone/>
            </a:pPr>
            <a:r>
              <a:rPr lang="en-US" sz="1200" i="1" dirty="0">
                <a:solidFill>
                  <a:srgbClr val="7F7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Task 2 → Task 3: insert this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[{</a:t>
            </a:r>
            <a:pPr indent="0" marL="0">
              <a:buNone/>
            </a:pPr>
            <a:r>
              <a:rPr lang="en-US" sz="1200" dirty="0">
                <a:solidFill>
                  <a:srgbClr val="6EC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"role": "user", "content": user_message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4023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7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3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limits how long a conversation can be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600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0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2468880" cy="320040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43000"/>
            <a:ext cx="2468880" cy="5486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463040"/>
            <a:ext cx="365760" cy="36576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4173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057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584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05840" y="28346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images alongside text using multimodal message format. Requires a vision-capable model.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83280" y="1143000"/>
            <a:ext cx="2468880" cy="320040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143000"/>
            <a:ext cx="2468880" cy="54864"/>
          </a:xfrm>
          <a:prstGeom prst="rect">
            <a:avLst/>
          </a:prstGeom>
          <a:solidFill>
            <a:srgbClr val="D4770B"/>
          </a:solidFill>
          <a:ln/>
        </p:spPr>
      </p:sp>
      <p:sp>
        <p:nvSpPr>
          <p:cNvPr id="14" name="Shape 11"/>
          <p:cNvSpPr/>
          <p:nvPr/>
        </p:nvSpPr>
        <p:spPr>
          <a:xfrm>
            <a:off x="3657600" y="1463040"/>
            <a:ext cx="365760" cy="365760"/>
          </a:xfrm>
          <a:prstGeom prst="rect">
            <a:avLst/>
          </a:prstGeom>
          <a:solidFill>
            <a:srgbClr val="D4770B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6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1732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57600" y="2057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Persistence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65760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77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5–6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28346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Save/load conversations as JSON files. Standard file I/O + REST endpoints.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035040" y="1143000"/>
            <a:ext cx="2468880" cy="3200400"/>
          </a:xfrm>
          <a:prstGeom prst="rect">
            <a:avLst/>
          </a:prstGeom>
          <a:solidFill>
            <a:srgbClr val="F5F5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35040" y="1143000"/>
            <a:ext cx="2468880" cy="54864"/>
          </a:xfrm>
          <a:prstGeom prst="rect">
            <a:avLst/>
          </a:prstGeom>
          <a:solidFill>
            <a:srgbClr val="2255AA"/>
          </a:solidFill>
          <a:ln/>
        </p:spPr>
      </p:sp>
      <p:sp>
        <p:nvSpPr>
          <p:cNvPr id="22" name="Shape 18"/>
          <p:cNvSpPr/>
          <p:nvPr/>
        </p:nvSpPr>
        <p:spPr>
          <a:xfrm>
            <a:off x="6309360" y="1463040"/>
            <a:ext cx="365760" cy="365760"/>
          </a:xfrm>
          <a:prstGeom prst="rect">
            <a:avLst/>
          </a:prstGeom>
          <a:solidFill>
            <a:srgbClr val="2255AA"/>
          </a:solidFill>
          <a:ln/>
        </p:spPr>
      </p:sp>
      <p:sp>
        <p:nvSpPr>
          <p:cNvPr id="23" name="Text 19"/>
          <p:cNvSpPr/>
          <p:nvPr/>
        </p:nvSpPr>
        <p:spPr>
          <a:xfrm>
            <a:off x="630936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6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41732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09360" y="2057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Benchmarking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630936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5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7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309360" y="28346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3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NLP benchmarks (ARC, GSM8K, HellaSwag) via inspect_ai. Live results in the frontend.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COP509 Chat App</dc:title>
  <dc:subject>PptxGenJS Presentation</dc:subject>
  <dc:creator>Dr Mikel Williams-Lekuona</dc:creator>
  <cp:lastModifiedBy>Dr Mikel Williams-Lekuona</cp:lastModifiedBy>
  <cp:revision>1</cp:revision>
  <dcterms:created xsi:type="dcterms:W3CDTF">2026-02-20T10:29:53Z</dcterms:created>
  <dcterms:modified xsi:type="dcterms:W3CDTF">2026-02-20T10:29:53Z</dcterms:modified>
</cp:coreProperties>
</file>